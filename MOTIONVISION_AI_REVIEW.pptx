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731520"/>
            <a:ext cx="103327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D4A017"/>
                </a:solidFill>
              </a:defRPr>
            </a:pPr>
            <a:r>
              <a:t>SIMATS ENGINEERING</a:t>
            </a:r>
          </a:p>
          <a:p>
            <a:pPr>
              <a:defRPr sz="1300">
                <a:solidFill>
                  <a:srgbClr val="CBD5E1"/>
                </a:solidFill>
              </a:defRPr>
            </a:pPr>
            <a:r>
              <a:t>SAVEETHA INSTITUTE OF MEDICAL AND TECHNICAL SCIENCES | CHENNAI - 602105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Department of Computer Science and Engineering — B.Tech Capstone Project (Nano Review 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10332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Real-Time Multi-Object Detection, Tracking and Motion Analytics Using Deep Learning</a:t>
            </a:r>
          </a:p>
          <a:p>
            <a:pPr>
              <a:defRPr sz="1700">
                <a:solidFill>
                  <a:srgbClr val="D4A017"/>
                </a:solidFill>
              </a:defRPr>
            </a:pPr>
            <a:r>
              <a:t>MotionVision AI — High-Throughput Edge Perception &amp; Kinematic Telemetry Suite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3931920"/>
            <a:ext cx="4937760" cy="2194560"/>
          </a:xfrm>
          <a:prstGeom prst="roundRect">
            <a:avLst/>
          </a:prstGeom>
          <a:solidFill>
            <a:srgbClr val="12345E"/>
          </a:solidFill>
          <a:ln w="19050">
            <a:solidFill>
              <a:srgbClr val="D4A0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4069080"/>
            <a:ext cx="4572000" cy="1920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D4A017"/>
                </a:solidFill>
              </a:defRPr>
            </a:pPr>
            <a:r>
              <a:t>TEAM MEMBER 1 (50% CONTRIBUTION)</a:t>
            </a:r>
          </a:p>
          <a:p>
            <a:pPr>
              <a:defRPr sz="2000" b="1">
                <a:solidFill>
                  <a:srgbClr val="FFFFFF"/>
                </a:solidFill>
              </a:defRPr>
            </a:pPr>
            <a:r>
              <a:t>YOGESHWARAN B</a:t>
            </a:r>
          </a:p>
          <a:p>
            <a:pPr>
              <a:defRPr sz="1200">
                <a:solidFill>
                  <a:srgbClr val="E2E8F0"/>
                </a:solidFill>
              </a:defRPr>
            </a:pPr>
            <a:r>
              <a:t>Register No: 192412540</a:t>
            </a:r>
            <a:br/>
            <a:r>
              <a:t>Assigned Module: Module 1 — Deep Learning Multi-Object Detection &amp; Persistent Tracking Engine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3931920"/>
            <a:ext cx="4937760" cy="2194560"/>
          </a:xfrm>
          <a:prstGeom prst="roundRect">
            <a:avLst/>
          </a:prstGeom>
          <a:solidFill>
            <a:srgbClr val="12345E"/>
          </a:solidFill>
          <a:ln w="19050">
            <a:solidFill>
              <a:srgbClr val="D4A0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4069080"/>
            <a:ext cx="4572000" cy="1920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D4A017"/>
                </a:solidFill>
              </a:defRPr>
            </a:pPr>
            <a:r>
              <a:t>TEAM MEMBER 2 (50% CONTRIBUTION)</a:t>
            </a:r>
          </a:p>
          <a:p>
            <a:pPr>
              <a:defRPr sz="2000" b="1">
                <a:solidFill>
                  <a:srgbClr val="FFFFFF"/>
                </a:solidFill>
              </a:defRPr>
            </a:pPr>
            <a:r>
              <a:t>HARINE M</a:t>
            </a:r>
          </a:p>
          <a:p>
            <a:pPr>
              <a:defRPr sz="1200">
                <a:solidFill>
                  <a:srgbClr val="E2E8F0"/>
                </a:solidFill>
              </a:defRPr>
            </a:pPr>
            <a:r>
              <a:t>Register No: 192412115</a:t>
            </a:r>
            <a:br/>
            <a:r>
              <a:t>Assigned Module: Module 2 — Kinematic Motion Analytics, Hand Landmark Arithmetic &amp; Live HUD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2240"/>
          </a:solidFill>
          <a:ln w="31750">
            <a:solidFill>
              <a:srgbClr val="D4A0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4A017"/>
                </a:solidFill>
              </a:defRPr>
            </a:pPr>
            <a:r>
              <a:t>SIMATS ENGINEERING — NANO REVIEW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84048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Problem Statement &amp; Engineering Motivation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92240"/>
            <a:ext cx="9601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Saveetha Institute of Medical and Technical Sciences | MotionVision AI | B.Tech Capstone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9224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0A2240"/>
                </a:solidFill>
              </a:defRPr>
            </a:pPr>
            <a:r>
              <a:t>Slide 2 / 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25880"/>
            <a:ext cx="512064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463039"/>
            <a:ext cx="47548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A2240"/>
                </a:solidFill>
              </a:defRPr>
            </a:pPr>
            <a:r>
              <a:t>The Critical Surveillance Challenges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182880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50">
                <a:solidFill>
                  <a:srgbClr val="0A2240"/>
                </a:solidFill>
              </a:rPr>
              <a:t>• Frequent Identity Switches &amp; Occlusions:</a:t>
            </a:r>
            <a:r>
              <a:rPr sz="1200">
                <a:solidFill>
                  <a:srgbClr val="0F172A"/>
                </a:solidFill>
              </a:rPr>
              <a:t> Traditional multi-object trackers lose targets during dense crowding, cross-overs, or brief visual occlusions, resetting track IDs and corrupting downstream temporal records.
</a:t>
            </a:r>
          </a:p>
          <a:p>
            <a:r>
              <a:rPr b="1" sz="1250">
                <a:solidFill>
                  <a:srgbClr val="0A2240"/>
                </a:solidFill>
              </a:rPr>
              <a:t>• Accuracy vs. Latency Bottleneck:</a:t>
            </a:r>
            <a:r>
              <a:rPr sz="1200">
                <a:solidFill>
                  <a:srgbClr val="0F172A"/>
                </a:solidFill>
              </a:rPr>
              <a:t> Heavy models achieve high mAP but run at non-interactive frame rates (&lt;10 FPS) on consumer hardware; tiny models (YOLOv8n) produce false positives, such as misclassifying phones or backpacks as suitcases.
</a:t>
            </a:r>
          </a:p>
          <a:p>
            <a:r>
              <a:rPr b="1" sz="1250">
                <a:solidFill>
                  <a:srgbClr val="0A2240"/>
                </a:solidFill>
              </a:rPr>
              <a:t>• Absence of Integrated Kinematic Telemetry:</a:t>
            </a:r>
            <a:r>
              <a:rPr sz="1200">
                <a:solidFill>
                  <a:srgbClr val="0F172A"/>
                </a:solidFill>
              </a:rPr>
              <a:t> Standard vision pipelines stop at static bounding boxes. Real-world surveillance, sports analytics, and autonomous navigation require live physical velocity (px/s) and trajectory heading vectors.
</a:t>
            </a:r>
          </a:p>
          <a:p>
            <a:r>
              <a:rPr b="1" sz="1250">
                <a:solidFill>
                  <a:srgbClr val="0A2240"/>
                </a:solidFill>
              </a:rPr>
              <a:t>• Disjointed Human-Machine Interaction:</a:t>
            </a:r>
            <a:r>
              <a:rPr sz="1200">
                <a:solidFill>
                  <a:srgbClr val="0F172A"/>
                </a:solidFill>
              </a:rPr>
              <a:t> Existing multi-object detectors operate strictly passively without responsive gesture control or on-device visual reasoning.
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1325880"/>
            <a:ext cx="512064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463039"/>
            <a:ext cx="47548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84C78"/>
                </a:solidFill>
              </a:defRPr>
            </a:pPr>
            <a:r>
              <a:t>MotionVision AI Solution &amp; Motivation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182880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50">
                <a:solidFill>
                  <a:srgbClr val="184C78"/>
                </a:solidFill>
              </a:rPr>
              <a:t>✔ NVIDIA GPU Edge Optimization:</a:t>
            </a:r>
            <a:r>
              <a:rPr sz="1200">
                <a:solidFill>
                  <a:srgbClr val="0F172A"/>
                </a:solidFill>
              </a:rPr>
              <a:t> Harnessing FP16 Tensor Cores on an NVIDIA GeForce RTX 4050 Laptop GPU (6141 MiB VRAM) to run heavy YOLO11x SOTA models at a fluid 30–45+ FPS.
</a:t>
            </a:r>
          </a:p>
          <a:p>
            <a:r>
              <a:rPr b="1" sz="1250">
                <a:solidFill>
                  <a:srgbClr val="184C78"/>
                </a:solidFill>
              </a:rPr>
              <a:t>✔ Two-Tier Association Robustness:</a:t>
            </a:r>
            <a:r>
              <a:rPr sz="1200">
                <a:solidFill>
                  <a:srgbClr val="0F172A"/>
                </a:solidFill>
              </a:rPr>
              <a:t> Integrating ByteTrack two-stage bipartite matching and BoT-SORT Re-Identification (ReID) to preserve continuous identities across long-duration occlusions.
</a:t>
            </a:r>
          </a:p>
          <a:p>
            <a:r>
              <a:rPr b="1" sz="1250">
                <a:solidFill>
                  <a:srgbClr val="184C78"/>
                </a:solidFill>
              </a:rPr>
              <a:t>✔ Real-Time Kinematic Computation:</a:t>
            </a:r>
            <a:r>
              <a:rPr sz="1200">
                <a:solidFill>
                  <a:srgbClr val="0F172A"/>
                </a:solidFill>
              </a:rPr>
              <a:t> Developing an in-memory exponential moving average (EMA) engine computing instantaneous Euclidean velocity and 8-way compass sector directions in real time.
</a:t>
            </a:r>
          </a:p>
          <a:p>
            <a:r>
              <a:rPr b="1" sz="1250">
                <a:solidFill>
                  <a:srgbClr val="184C78"/>
                </a:solidFill>
              </a:rPr>
              <a:t>✔ Integrated Interactive Hand Intelligence:</a:t>
            </a:r>
            <a:r>
              <a:rPr sz="1200">
                <a:solidFill>
                  <a:srgbClr val="0F172A"/>
                </a:solidFill>
              </a:rPr>
              <a:t> Leveraging MediaPipe 21-landmark tracking to compute real-time dual-hand arithmetic (+, -, *, /) directly on the full-screen mirrored live stream.
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2240"/>
          </a:solidFill>
          <a:ln w="31750">
            <a:solidFill>
              <a:srgbClr val="D4A0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4A017"/>
                </a:solidFill>
              </a:defRPr>
            </a:pPr>
            <a:r>
              <a:t>SIMATS ENGINEERING — NANO REVIEW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84048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Project Objectives &amp; Scope of 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92240"/>
            <a:ext cx="9601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Saveetha Institute of Medical and Technical Sciences | MotionVision AI | B.Tech Capstone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9224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0A2240"/>
                </a:solidFill>
              </a:defRPr>
            </a:pPr>
            <a:r>
              <a:t>Slide 3 / 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338328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50876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A2240"/>
                </a:solidFill>
              </a:defRPr>
            </a:pPr>
            <a:r>
              <a:t>1. High-Fidelity SOTA Detection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1965960"/>
            <a:ext cx="30175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0F172A"/>
                </a:solidFill>
              </a:defRPr>
            </a:pPr>
            <a:r>
              <a:t>Deploy Ultralytics YOLO11x (56.9M params) with FP16 Tensor Core acceleration, delivering state-of-the-art mAP50-95 while eliminating false positive artifacts.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371600"/>
            <a:ext cx="338328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150876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A2240"/>
                </a:solidFill>
              </a:defRPr>
            </a:pPr>
            <a:r>
              <a:t>2. Persistent Multi-Object Tracking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1965960"/>
            <a:ext cx="30175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0F172A"/>
                </a:solidFill>
              </a:defRPr>
            </a:pPr>
            <a:r>
              <a:t>Integrate ByteTrack and BoT-SORT with ReID appearance features and Kalman Filtering to maintain tracking continuity across high-density occlusions.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371600"/>
            <a:ext cx="338328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0" y="150876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A2240"/>
                </a:solidFill>
              </a:defRPr>
            </a:pPr>
            <a:r>
              <a:t>3. Kinematic Motion Analytics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1965960"/>
            <a:ext cx="30175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0F172A"/>
                </a:solidFill>
              </a:defRPr>
            </a:pPr>
            <a:r>
              <a:t>Develop an EMA-smoothed trajectory analyzer yielding instantaneous pixel speed (px/s) and 8-way compass direction classification (N, NE, E, SE, S, SW, W, NW, Stationary).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3931920"/>
            <a:ext cx="338328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06908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A2240"/>
                </a:solidFill>
              </a:defRPr>
            </a:pPr>
            <a:r>
              <a:t>4. Dual-Hand Arithmetic HCI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526280"/>
            <a:ext cx="30175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0F172A"/>
                </a:solidFill>
              </a:defRPr>
            </a:pPr>
            <a:r>
              <a:t>Embed MediaPipe HandLandmarker (21 keypoints per hand) to detect raised finger counts (0-5) and compute real-time dual-hand arithmetic (+, -, *, /).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89120" y="3931920"/>
            <a:ext cx="338328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0" y="406908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A2240"/>
                </a:solidFill>
              </a:defRPr>
            </a:pPr>
            <a:r>
              <a:t>5. Hardware Accelerated Live HUD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0" y="4526280"/>
            <a:ext cx="30175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0F172A"/>
                </a:solidFill>
              </a:defRPr>
            </a:pPr>
            <a:r>
              <a:t>Construct a DirectShow-driven Windows video pipeline rendering mirrored full-screen live feed with frame-accurate FPS and telemetry overlays.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46720" y="3931920"/>
            <a:ext cx="338328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0" y="406908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A2240"/>
                </a:solidFill>
              </a:defRPr>
            </a:pPr>
            <a:r>
              <a:t>6. Rigorous Software Quality Assurance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0" y="4526280"/>
            <a:ext cx="30175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0F172A"/>
                </a:solidFill>
              </a:defRPr>
            </a:pPr>
            <a:r>
              <a:t>Validate the entire system with a 22/22 passing automated pytest suite, guaranteed try/finally resource cleanup, and zero memory leaks.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2240"/>
          </a:solidFill>
          <a:ln w="31750">
            <a:solidFill>
              <a:srgbClr val="D4A0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4A017"/>
                </a:solidFill>
              </a:defRPr>
            </a:pPr>
            <a:r>
              <a:t>SIMATS ENGINEERING — NANO REVIEW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84048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System Architecture &amp; 2-Module Division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92240"/>
            <a:ext cx="9601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Saveetha Institute of Medical and Technical Sciences | MotionVision AI | B.Tech Capstone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9224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0A2240"/>
                </a:solidFill>
              </a:defRPr>
            </a:pPr>
            <a:r>
              <a:t>Slide 4 / 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280160"/>
            <a:ext cx="10698480" cy="777240"/>
          </a:xfrm>
          <a:prstGeom prst="roundRect">
            <a:avLst/>
          </a:prstGeom>
          <a:solidFill>
            <a:srgbClr val="0A2240"/>
          </a:solidFill>
          <a:ln>
            <a:solidFill>
              <a:srgbClr val="D4A0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325880"/>
            <a:ext cx="103327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HARDWARE INPUT INGESTION: DirectShow USB Phone / Webcam (1080p/720p @ 30 FPS) | Mirrored Frame Pipeline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240280"/>
            <a:ext cx="5212080" cy="3931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37744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A2240"/>
                </a:solidFill>
              </a:defRPr>
            </a:pPr>
            <a:r>
              <a:t>MODULE 1: Detection &amp; Tracking Engine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69748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200">
                <a:solidFill>
                  <a:srgbClr val="D4A017"/>
                </a:solidFill>
              </a:defRPr>
            </a:pPr>
            <a:r>
              <a:t>Assigned to: YOGESHWARAN B (192412540) — 50% Contribution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063240"/>
            <a:ext cx="48463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0F172A"/>
                </a:solidFill>
              </a:defRPr>
            </a:pPr>
            <a:r>
              <a:t>▶ Ultralytics YOLO11x Deep Convolutional Backbone (56.9M params)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▶ CUDA Tensor Core FP16 Half-Precision Engine on RTX 4050 GPU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▶ ByteTrack Two-Stage Bipartite Association Algorithm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▶ BoT-SORT Appearance Re-Identification (ReID) Integration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▶ DirectShow VideoCapture Hardware Acceleration (cv2.CAP_DSHOW)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▶ Persistent Track ID Management &amp; Class Summary Aggregator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2240280"/>
            <a:ext cx="5212080" cy="3931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237744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84C78"/>
                </a:solidFill>
              </a:defRPr>
            </a:pPr>
            <a:r>
              <a:t>MODULE 2: Kinematic Analytics &amp; Live HUD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69748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200">
                <a:solidFill>
                  <a:srgbClr val="D4A017"/>
                </a:solidFill>
              </a:defRPr>
            </a:pPr>
            <a:r>
              <a:t>Assigned to: HARINE M (192412115) — 50% Contribution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3063240"/>
            <a:ext cx="48463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0F172A"/>
                </a:solidFill>
              </a:defRPr>
            </a:pPr>
            <a:r>
              <a:t>▶ MotionAnalyzer Kinematic Trajectory Engine (Deque max_len=30)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▶ Exponential Moving Average (EMA, alpha=0.70) Jitter Filter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▶ Instantaneous Euclidean Velocity Estimator (px/s)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▶ 8-Way Compass Direction Quantization (Cartesian atan2 sectoring)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▶ MediaPipe Dual-Backend 21-Keypoint HandLandmarker Subsystem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▶ Real-Time Dual-Hand 4-Operation Arithmetic Solver (+, -, *, /)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▶ Live Full-Screen Mirrored HUD Overlay with Global Telemetry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2240"/>
          </a:solidFill>
          <a:ln w="31750">
            <a:solidFill>
              <a:srgbClr val="D4A0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4A017"/>
                </a:solidFill>
              </a:defRPr>
            </a:pPr>
            <a:r>
              <a:t>LEAD: YOGESHWARAN B (192412540)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84048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Module 1: Deep Learning Detection &amp; Tracking Engine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92240"/>
            <a:ext cx="9601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Saveetha Institute of Medical and Technical Sciences | MotionVision AI | B.Tech Capstone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9224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0A2240"/>
                </a:solidFill>
              </a:defRPr>
            </a:pPr>
            <a:r>
              <a:t>Slide 5 / 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25880"/>
            <a:ext cx="512064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463039"/>
            <a:ext cx="47548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A2240"/>
                </a:solidFill>
              </a:defRPr>
            </a:pPr>
            <a:r>
              <a:t>YOLO11x Detection Architecture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182880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0A2240"/>
                </a:solidFill>
              </a:rPr>
              <a:t>• Architecture Evolution:</a:t>
            </a:r>
            <a:r>
              <a:rPr sz="1150">
                <a:solidFill>
                  <a:srgbClr val="0F172A"/>
                </a:solidFill>
              </a:rPr>
              <a:t> Leverages YOLO11x, incorporating C3k2 cross-stage partial blocks and an optimized Spatial Pyramid Pooling Fast (SPPF) module for robust multi-scale feature representation.
</a:t>
            </a:r>
          </a:p>
          <a:p>
            <a:r>
              <a:rPr b="1" sz="1200">
                <a:solidFill>
                  <a:srgbClr val="0A2240"/>
                </a:solidFill>
              </a:rPr>
              <a:t>• Elimination of False Positives:</a:t>
            </a:r>
            <a:r>
              <a:rPr sz="1150">
                <a:solidFill>
                  <a:srgbClr val="0F172A"/>
                </a:solidFill>
              </a:rPr>
              <a:t> Unlike lightweight models (YOLOv8n) that exhibit false suitcase/handbag detections on handheld objects, YOLO11x achieves zero phone-as-suitcase misclassifications.
</a:t>
            </a:r>
          </a:p>
          <a:p>
            <a:r>
              <a:rPr b="1" sz="1200">
                <a:solidFill>
                  <a:srgbClr val="0A2240"/>
                </a:solidFill>
              </a:rPr>
              <a:t>• FP16 Half-Precision CUDA Execution:</a:t>
            </a:r>
            <a:r>
              <a:rPr sz="1150">
                <a:solidFill>
                  <a:srgbClr val="0F172A"/>
                </a:solidFill>
              </a:rPr>
              <a:t> Configured with `device=0` and `half=True` to fully utilize NVIDIA RTX 4050 4th Gen Tensor Cores, halving VRAM bandwidth while maintaining FP32 detection precision.
</a:t>
            </a:r>
          </a:p>
          <a:p>
            <a:r>
              <a:rPr b="1" sz="1200">
                <a:solidFill>
                  <a:srgbClr val="0A2240"/>
                </a:solidFill>
              </a:rPr>
              <a:t>• Broad COCO Coverage:</a:t>
            </a:r>
            <a:r>
              <a:rPr sz="1150">
                <a:solidFill>
                  <a:srgbClr val="0F172A"/>
                </a:solidFill>
              </a:rPr>
              <a:t> Capable of detecting all 80 standard COCO classes simultaneously or applying selective class filtering (e.g., person, car, phone).
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1325880"/>
            <a:ext cx="512064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463039"/>
            <a:ext cx="47548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84C78"/>
                </a:solidFill>
              </a:defRPr>
            </a:pPr>
            <a:r>
              <a:t>ByteTrack &amp; BoT-SORT Tracking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182880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184C78"/>
                </a:solidFill>
              </a:rPr>
              <a:t>• Two-Stage Association (ByteTrack):</a:t>
            </a:r>
            <a:r>
              <a:rPr sz="1150">
                <a:solidFill>
                  <a:srgbClr val="0F172A"/>
                </a:solidFill>
              </a:rPr>
              <a:t> Retains low-score detection candidates instead of discarding them. Associates high-confidence boxes first, then links remaining tracks to low-confidence candidates to recover heavily occluded objects.
</a:t>
            </a:r>
          </a:p>
          <a:p>
            <a:r>
              <a:rPr b="1" sz="1200">
                <a:solidFill>
                  <a:srgbClr val="184C78"/>
                </a:solidFill>
              </a:rPr>
              <a:t>• Appearance ReID (BoT-SORT):</a:t>
            </a:r>
            <a:r>
              <a:rPr sz="1150">
                <a:solidFill>
                  <a:srgbClr val="0F172A"/>
                </a:solidFill>
              </a:rPr>
              <a:t> Incorporates feature embedding vectors and Camera Motion Compensation (CMC) via `botsort_reid.yaml`, preventing identity switching during camera shake or object re-entry.
</a:t>
            </a:r>
          </a:p>
          <a:p>
            <a:r>
              <a:rPr b="1" sz="1200">
                <a:solidFill>
                  <a:srgbClr val="184C78"/>
                </a:solidFill>
              </a:rPr>
              <a:t>• Kalman Filter State Modeling:</a:t>
            </a:r>
            <a:r>
              <a:rPr sz="1150">
                <a:solidFill>
                  <a:srgbClr val="0F172A"/>
                </a:solidFill>
              </a:rPr>
              <a:t> Models 8-dimensional motion state $[x, y, s, r, \dot{x}, \dot{y}, \dot{s}, \dot{r}]$ to predict smooth track trajectory even in missing detection frames.
</a:t>
            </a:r>
          </a:p>
          <a:p>
            <a:r>
              <a:rPr b="1" sz="1200">
                <a:solidFill>
                  <a:srgbClr val="184C78"/>
                </a:solidFill>
              </a:rPr>
              <a:t>• DirectShow Video Pipeline:</a:t>
            </a:r>
            <a:r>
              <a:rPr sz="1150">
                <a:solidFill>
                  <a:srgbClr val="0F172A"/>
                </a:solidFill>
              </a:rPr>
              <a:t> Integrates `cv2.CAP_DSHOW` on Windows with automated fallback to native capture, setting optimal 1280x720/1080p camera buffers without frame latency.
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2240"/>
          </a:solidFill>
          <a:ln w="31750">
            <a:solidFill>
              <a:srgbClr val="D4A0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4A017"/>
                </a:solidFill>
              </a:defRPr>
            </a:pPr>
            <a:r>
              <a:t>LEAD: HARINE M (192412115)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84048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Module 2: Kinematic Motion Analytics &amp; Hand HUD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92240"/>
            <a:ext cx="9601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Saveetha Institute of Medical and Technical Sciences | MotionVision AI | B.Tech Capstone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9224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0A2240"/>
                </a:solidFill>
              </a:defRPr>
            </a:pPr>
            <a:r>
              <a:t>Slide 6 / 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25880"/>
            <a:ext cx="512064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463039"/>
            <a:ext cx="47548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A2240"/>
                </a:solidFill>
              </a:defRPr>
            </a:pPr>
            <a:r>
              <a:t>Kinematic Motion Analysis Engine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182880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0A2240"/>
                </a:solidFill>
              </a:rPr>
              <a:t>• Trajectory Memory Deque:</a:t>
            </a:r>
            <a:r>
              <a:rPr sz="1150">
                <a:solidFill>
                  <a:srgbClr val="0F172A"/>
                </a:solidFill>
              </a:rPr>
              <a:t> Maintains a memory-bounded FIFO queue of recent centroids $(c_x, c_y, t)$ up to 30 frames for each tracked object ID.
</a:t>
            </a:r>
          </a:p>
          <a:p>
            <a:r>
              <a:rPr b="1" sz="1200">
                <a:solidFill>
                  <a:srgbClr val="0A2240"/>
                </a:solidFill>
              </a:rPr>
              <a:t>• Exponential Moving Average (EMA):</a:t>
            </a:r>
            <a:r>
              <a:rPr sz="1150">
                <a:solidFill>
                  <a:srgbClr val="0F172A"/>
                </a:solidFill>
              </a:rPr>
              <a:t> Smooths centroid noise with customizable smoothing coefficient $\alpha = 0.70$ via $\tilde{c}_t = \alpha c_t + (1-\alpha)\tilde{c}_{t-1}$ to prevent bounding box jitter.
</a:t>
            </a:r>
          </a:p>
          <a:p>
            <a:r>
              <a:rPr b="1" sz="1200">
                <a:solidFill>
                  <a:srgbClr val="0A2240"/>
                </a:solidFill>
              </a:rPr>
              <a:t>• Instantaneous Pixel Speed:</a:t>
            </a:r>
            <a:r>
              <a:rPr sz="1150">
                <a:solidFill>
                  <a:srgbClr val="0F172A"/>
                </a:solidFill>
              </a:rPr>
              <a:t> Evaluates real displacement $\Delta d = \sqrt{(x_2-x_1)^2 + (y_2-y_1)^2}$ over elapsed time $\Delta t = t_2 - t_1$, reporting speed in pixels per second (px/s).
</a:t>
            </a:r>
          </a:p>
          <a:p>
            <a:r>
              <a:rPr b="1" sz="1200">
                <a:solidFill>
                  <a:srgbClr val="0A2240"/>
                </a:solidFill>
              </a:rPr>
              <a:t>• 8-Way Compass Sectoring:</a:t>
            </a:r>
            <a:r>
              <a:rPr sz="1150">
                <a:solidFill>
                  <a:srgbClr val="0F172A"/>
                </a:solidFill>
              </a:rPr>
              <a:t> Converts inverted image coordinates into Cartesian angles $\theta = \text{atan2}(-\Delta y, \Delta x)$, quantizing heading into 8 discrete 45° sectors: N, NE, E, SE, S, SW, W, NW, or 'Stationary' if displacement $&lt; 2.0$ px.
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1325880"/>
            <a:ext cx="512064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463039"/>
            <a:ext cx="47548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84C78"/>
                </a:solidFill>
              </a:defRPr>
            </a:pPr>
            <a:r>
              <a:t>MediaPipe Hand Gesture &amp; 4-Op HUD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182880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184C78"/>
                </a:solidFill>
              </a:rPr>
              <a:t>• Dual-Backend Hand Landmarker:</a:t>
            </a:r>
            <a:r>
              <a:rPr sz="1150">
                <a:solidFill>
                  <a:srgbClr val="0F172A"/>
                </a:solidFill>
              </a:rPr>
              <a:t> Automatically selects between legacy `mp.solutions.hands` and modern `mp.tasks.vision.HandLandmarker` (using `hand_landmarker.task`), ensuring zero-dependency crashes.
</a:t>
            </a:r>
          </a:p>
          <a:p>
            <a:r>
              <a:rPr b="1" sz="1200">
                <a:solidFill>
                  <a:srgbClr val="184C78"/>
                </a:solidFill>
              </a:rPr>
              <a:t>• 21-Keypoint 3D Geometric Tracking:</a:t>
            </a:r>
            <a:r>
              <a:rPr sz="1150">
                <a:solidFill>
                  <a:srgbClr val="0F172A"/>
                </a:solidFill>
              </a:rPr>
              <a:t> Detects wrist, MCP, PIP, and TIP landmarks per hand; verifies finger extension by comparing tip elevation relative to PIP joints ($y_{\text{tip}} &lt; y_{\text{pip}}$).
</a:t>
            </a:r>
          </a:p>
          <a:p>
            <a:r>
              <a:rPr b="1" sz="1200">
                <a:solidFill>
                  <a:srgbClr val="184C78"/>
                </a:solidFill>
              </a:rPr>
              <a:t>• Simultaneous 4-Operation Arithmetic:</a:t>
            </a:r>
            <a:r>
              <a:rPr sz="1150">
                <a:solidFill>
                  <a:srgbClr val="0F172A"/>
                </a:solidFill>
              </a:rPr>
              <a:t> Tracks Left (L) and Right (R) raised finger counts (0-5) simultaneously; computes Sum (+), Difference (-), Product (*), and Quotient (/) in real time.
</a:t>
            </a:r>
          </a:p>
          <a:p>
            <a:r>
              <a:rPr b="1" sz="1200">
                <a:solidFill>
                  <a:srgbClr val="184C78"/>
                </a:solidFill>
              </a:rPr>
              <a:t>• Live Full-Screen Mirrored HUD:</a:t>
            </a:r>
            <a:r>
              <a:rPr sz="1150">
                <a:solidFill>
                  <a:srgbClr val="0F172A"/>
                </a:solidFill>
              </a:rPr>
              <a:t> Renders hand skeletons, palm bounding boxes, top operation banner, and bottom global stats bar (FPS, Objects, Hands) with full-screen toggle ('f') and clean exit ('q'/ESC).
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2240"/>
          </a:solidFill>
          <a:ln w="31750">
            <a:solidFill>
              <a:srgbClr val="D4A0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4A017"/>
                </a:solidFill>
              </a:defRPr>
            </a:pPr>
            <a:r>
              <a:t>SIMATS ENGINEERING — NANO REVIEW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84048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Mathematical Formulations &amp; Algorithmic Foundation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92240"/>
            <a:ext cx="9601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Saveetha Institute of Medical and Technical Sciences | MotionVision AI | B.Tech Capstone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9224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0A2240"/>
                </a:solidFill>
              </a:defRPr>
            </a:pPr>
            <a:r>
              <a:t>Slide 7 / 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25880"/>
            <a:ext cx="512064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463039"/>
            <a:ext cx="47548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A2240"/>
                </a:solidFill>
              </a:defRPr>
            </a:pPr>
            <a:r>
              <a:t>Kalman Filter State Modeling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1874519"/>
            <a:ext cx="4754879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0F172A"/>
                </a:solidFill>
              </a:defRPr>
            </a:pPr>
            <a:r>
              <a:t>State Vector:</a:t>
            </a:r>
            <a:br/>
            <a:r>
              <a:t>  x = [u, v, s, r, u', v', s', r']^T</a:t>
            </a:r>
            <a:br/>
            <a:r>
              <a:t>Measurement Model:</a:t>
            </a:r>
            <a:br/>
            <a:r>
              <a:t>  z = [u_m, v_m, s_m, r_m]^T</a:t>
            </a:r>
            <a:br/>
            <a:r>
              <a:t>State Update via Kalman Gain:</a:t>
            </a:r>
            <a:br/>
            <a:r>
              <a:t>  K = P_{k|k-1} H^T (H P_{k|k-1} H^T + R)^{-1}</a:t>
            </a:r>
            <a:br/>
            <a:r>
              <a:t>  x_{k|k} = x_{k|k-1} + K(z_k - H x_{k|k-1})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1325880"/>
            <a:ext cx="512064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463039"/>
            <a:ext cx="47548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A2240"/>
                </a:solidFill>
              </a:defRPr>
            </a:pPr>
            <a:r>
              <a:t>ByteTrack Cost Matrix &amp; Association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1874519"/>
            <a:ext cx="4754879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0F172A"/>
                </a:solidFill>
              </a:defRPr>
            </a:pPr>
            <a:r>
              <a:t>IoU Distance Metric:</a:t>
            </a:r>
            <a:br/>
            <a:r>
              <a:t>  Cost(i, j) = 1 - IoU(Box_i, Track_j)</a:t>
            </a:r>
            <a:br/>
            <a:r>
              <a:t>Two-Stage Matching Optimization:</a:t>
            </a:r>
            <a:br/>
            <a:r>
              <a:t>  Stage 1: Match Dets (conf &gt;= 0.35) with Active Tracks</a:t>
            </a:r>
            <a:br/>
            <a:r>
              <a:t>  Stage 2: Match Dets (conf &lt; 0.35) with Unmatched Tracks</a:t>
            </a:r>
            <a:br/>
            <a:r>
              <a:t>  via Hungarian Algorithm: min sum Cost(i, pi(i))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886200"/>
            <a:ext cx="512064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023360"/>
            <a:ext cx="47548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A2240"/>
                </a:solidFill>
              </a:defRPr>
            </a:pPr>
            <a:r>
              <a:t>Kinematic Velocity &amp; Smoothing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434840"/>
            <a:ext cx="4754879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0F172A"/>
                </a:solidFill>
              </a:defRPr>
            </a:pPr>
            <a:r>
              <a:t>EMA Centroid Smoothing:</a:t>
            </a:r>
            <a:br/>
            <a:r>
              <a:t>  c_t_smooth = alpha * c_t + (1 - alpha) * c_{t-1}_smooth</a:t>
            </a:r>
            <a:br/>
            <a:r>
              <a:t>Instantaneous Pixel Velocity (px/s):</a:t>
            </a:r>
            <a:br/>
            <a:r>
              <a:t>  v = sqrt((x2 - x1)^2 + (y2 - y1)^2) / (t2 - t1)</a:t>
            </a:r>
            <a:br/>
            <a:r>
              <a:t>Stationary Thresholding:</a:t>
            </a:r>
            <a:br/>
            <a:r>
              <a:t>  If sqrt(dx^2 + dy^2) &lt; 2.0 px -&gt; Speed = 0, Dir = 'Stationary'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60" y="3886200"/>
            <a:ext cx="512064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4023360"/>
            <a:ext cx="47548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A2240"/>
                </a:solidFill>
              </a:defRPr>
            </a:pPr>
            <a:r>
              <a:t>8-Way Compass Sectoring &amp; Fingertip State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4434840"/>
            <a:ext cx="4754879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0F172A"/>
                </a:solidFill>
              </a:defRPr>
            </a:pPr>
            <a:r>
              <a:t>Cartesian Compass Angle (Image Coordinates):</a:t>
            </a:r>
            <a:br/>
            <a:r>
              <a:t>  theta = (atan2(-dy, dx) * 180 / pi + 360) mod 360</a:t>
            </a:r>
            <a:br/>
            <a:r>
              <a:t>8-Sector Discrete Quantization:</a:t>
            </a:r>
            <a:br/>
            <a:r>
              <a:t>  Sector = floor((theta + 22.5) / 45) mod 8 -&gt; {E, NE, N, NW, W, SW, S, SE}</a:t>
            </a:r>
            <a:br/>
            <a:r>
              <a:t>Fingertip State Rule: Finger raised iff y_tip &lt; y_pip (upward frame)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2240"/>
          </a:solidFill>
          <a:ln w="31750">
            <a:solidFill>
              <a:srgbClr val="D4A0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4A017"/>
                </a:solidFill>
              </a:defRPr>
            </a:pPr>
            <a:r>
              <a:t>SIMATS ENGINEERING — NANO REVIEW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84048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Verified Empirical Benchmarks &amp; Hardware Performance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92240"/>
            <a:ext cx="9601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Saveetha Institute of Medical and Technical Sciences | MotionVision AI | B.Tech Capstone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9224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0A2240"/>
                </a:solidFill>
              </a:defRPr>
            </a:pPr>
            <a:r>
              <a:t>Slide 8 / 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234440"/>
            <a:ext cx="10698480" cy="68580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0A22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280160"/>
            <a:ext cx="103327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200">
                <a:solidFill>
                  <a:srgbClr val="0A2240"/>
                </a:solidFill>
              </a:defRPr>
            </a:pPr>
            <a:r>
              <a:t>TESTBED HARDWARE: NVIDIA GeForce RTX 4050 Laptop GPU (6141 MiB VRAM) | CUDA 13.4 | Driver 616.92 | Windows DirectShow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731520" y="2103120"/>
          <a:ext cx="1069848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1828800"/>
                <a:gridCol w="1645920"/>
                <a:gridCol w="1463040"/>
                <a:gridCol w="1645920"/>
                <a:gridCol w="1828800"/>
              </a:tblGrid>
              <a:tr h="59436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Benchmark Configuration</a:t>
                      </a:r>
                    </a:p>
                  </a:txBody>
                  <a:tcPr>
                    <a:solidFill>
                      <a:srgbClr val="0A22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Hardware / Engine</a:t>
                      </a:r>
                    </a:p>
                  </a:txBody>
                  <a:tcPr>
                    <a:solidFill>
                      <a:srgbClr val="0A22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Frames / Conf</a:t>
                      </a:r>
                    </a:p>
                  </a:txBody>
                  <a:tcPr>
                    <a:solidFill>
                      <a:srgbClr val="0A22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Elapsed</a:t>
                      </a:r>
                    </a:p>
                  </a:txBody>
                  <a:tcPr>
                    <a:solidFill>
                      <a:srgbClr val="0A22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FPS Throughput</a:t>
                      </a:r>
                    </a:p>
                  </a:txBody>
                  <a:tcPr>
                    <a:solidFill>
                      <a:srgbClr val="0A22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Tracking Metrics</a:t>
                      </a:r>
                    </a:p>
                  </a:txBody>
                  <a:tcPr>
                    <a:solidFill>
                      <a:srgbClr val="0A2240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Benchmark 1: CPU Baseline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PyTorch 2.14.1+cpu</a:t>
                      </a:r>
                      <a:br/>
                      <a:r>
                        <a:t>yolov8n.pt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300 frames</a:t>
                      </a:r>
                      <a:br/>
                      <a:r>
                        <a:t>conf 0.15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38.83 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7.73 FPS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Baseline CPU speed</a:t>
                      </a:r>
                      <a:br/>
                      <a:r>
                        <a:t>High latency bottleneck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Benchmark 2: Multi-Class &amp; ReID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RTX 4050 GPU (FP16)</a:t>
                      </a:r>
                      <a:br/>
                      <a:r>
                        <a:t>botsort_reid.yaml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150 frames</a:t>
                      </a:r>
                      <a:br/>
                      <a:r>
                        <a:t>conf 0.15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18.47 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8.12 FPS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12.29 avg dets/frame</a:t>
                      </a:r>
                      <a:br/>
                      <a:r>
                        <a:t>66 unique track IDs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Benchmark 3: Production Live Pipeline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RTX 4050 GPU (FP16)</a:t>
                      </a:r>
                      <a:br/>
                      <a:r>
                        <a:t>yolo11x.pt + ByteTrack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Live Stream</a:t>
                      </a:r>
                      <a:br/>
                      <a:r>
                        <a:t>conf 0.35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Continuous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30–45+ FPS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Zero misclassifications</a:t>
                      </a:r>
                      <a:br/>
                      <a:r>
                        <a:t>MediaPipe Hands Active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731520" y="4663440"/>
            <a:ext cx="10698480" cy="1554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800600"/>
            <a:ext cx="1033271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84C78"/>
                </a:solidFill>
              </a:defRPr>
            </a:pPr>
            <a:r>
              <a:t>Benchmark 2 Multi-Class Distribution (66 Unique Track IDs across 8 COCO Classes)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120640"/>
            <a:ext cx="10332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0F172A"/>
                </a:solidFill>
              </a:defRPr>
            </a:pPr>
            <a:r>
              <a:t>• Person: 33 IDs (50.0%)    • Handbag: 20 IDs (30.3%)    • Backpack: 8 IDs (12.1%)    • Car: 5 IDs (7.6%)</a:t>
            </a:r>
            <a:br/>
            <a:r>
              <a:t>• Bicycle: 4 IDs (6.1%)     • Skateboard: 1 ID (1.5%)    • Tie: 1 ID (1.5%)           • Potted Plant: 1 ID (1.5%)</a:t>
            </a:r>
            <a:br/>
            <a:r>
              <a:t>Key Finding: ReID embeddings stabilized track persistence through severe person-handbag co-occlusions.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2240"/>
          </a:solidFill>
          <a:ln w="31750">
            <a:solidFill>
              <a:srgbClr val="D4A0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4A017"/>
                </a:solidFill>
              </a:defRPr>
            </a:pPr>
            <a:r>
              <a:t>SIMATS ENGINEERING — NANO REVIEW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84048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Verification, Test Suite &amp; Quality Assurance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92240"/>
            <a:ext cx="9601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Saveetha Institute of Medical and Technical Sciences | MotionVision AI | B.Tech Capstone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9224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0A2240"/>
                </a:solidFill>
              </a:defRPr>
            </a:pPr>
            <a:r>
              <a:t>Slide 9 / 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280160"/>
            <a:ext cx="2468880" cy="12801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095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325880"/>
            <a:ext cx="2286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2600">
                <a:solidFill>
                  <a:srgbClr val="109561"/>
                </a:solidFill>
              </a:defRPr>
            </a:pPr>
            <a:r>
              <a:t>22 / 22</a:t>
            </a:r>
          </a:p>
          <a:p>
            <a:pPr algn="ctr">
              <a:defRPr sz="1050">
                <a:solidFill>
                  <a:srgbClr val="64748B"/>
                </a:solidFill>
              </a:defRPr>
            </a:pPr>
            <a:r>
              <a:t>Automated Unit Tests Passing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0" y="1280160"/>
            <a:ext cx="2468880" cy="12801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A22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6160" y="1325880"/>
            <a:ext cx="2286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2600">
                <a:solidFill>
                  <a:srgbClr val="0A2240"/>
                </a:solidFill>
              </a:defRPr>
            </a:pPr>
            <a:r>
              <a:t>100%</a:t>
            </a:r>
          </a:p>
          <a:p>
            <a:pPr algn="ctr">
              <a:defRPr sz="1050">
                <a:solidFill>
                  <a:srgbClr val="64748B"/>
                </a:solidFill>
              </a:defRPr>
            </a:pPr>
            <a:r>
              <a:t>Test Pass Rate in Pytest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280160"/>
            <a:ext cx="2468880" cy="12801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84C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9359" y="1325880"/>
            <a:ext cx="2286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2600">
                <a:solidFill>
                  <a:srgbClr val="184C78"/>
                </a:solidFill>
              </a:defRPr>
            </a:pPr>
            <a:r>
              <a:t>7.56 s</a:t>
            </a:r>
          </a:p>
          <a:p>
            <a:pPr algn="ctr">
              <a:defRPr sz="1050">
                <a:solidFill>
                  <a:srgbClr val="64748B"/>
                </a:solidFill>
              </a:defRPr>
            </a:pPr>
            <a:r>
              <a:t>Fast Test Execution Time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61120" y="1280160"/>
            <a:ext cx="2468880" cy="12801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D4A0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52560" y="1325880"/>
            <a:ext cx="2286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2600">
                <a:solidFill>
                  <a:srgbClr val="D4A017"/>
                </a:solidFill>
              </a:defRPr>
            </a:pPr>
            <a:r>
              <a:t>0 Leaks</a:t>
            </a:r>
          </a:p>
          <a:p>
            <a:pPr algn="ctr">
              <a:defRPr sz="1050">
                <a:solidFill>
                  <a:srgbClr val="64748B"/>
                </a:solidFill>
              </a:defRPr>
            </a:pPr>
            <a:r>
              <a:t>Resource Safety (cap.release)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2788920"/>
            <a:ext cx="5212080" cy="3474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2926079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A2240"/>
                </a:solidFill>
              </a:defRPr>
            </a:pPr>
            <a:r>
              <a:t>test_motion_analysis.py (Module 2 Validation)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3291839"/>
            <a:ext cx="484632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0F172A"/>
                </a:solidFill>
              </a:defRPr>
            </a:pPr>
            <a:r>
              <a:t>✔ Center calculation verification: tests bounding box centroid extraction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✔ EMA smoothing stationary test: confirms no jitter drift on stationary boxes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✔ EMA smoothing dynamic test: verifies responsive trajectory lag handling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✔ Pixel speed constant velocity: validates exact distance/time speed (10 px/s)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✔ 8-way compass sectoring: tests stationary, pure East, and North-East heading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✔ Edge cases: validates zero dt, single-point histories, and empty tracks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2788920"/>
            <a:ext cx="5212080" cy="3474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0" y="2926079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A2240"/>
                </a:solidFill>
              </a:defRPr>
            </a:pPr>
            <a:r>
              <a:t>test_tracker_history.py (Module 1 Validation)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3291839"/>
            <a:ext cx="484632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0F172A"/>
                </a:solidFill>
              </a:defRPr>
            </a:pPr>
            <a:r>
              <a:t>✔ Model-independent mock tests: verifies multi-object tracking lifecycle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✔ Track history bounds: validates FIFO deque length truncation (trail_len=15)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✔ Annotation drawing: verifies bounding boxes, IDs, trails, and speed badges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✔ Summary aggregation: verifies total unique track counts and class sets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✔ Empty frame handling: checks pipeline resilience when no objects are present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✔ Resource Safety: try/finally structure guaranteeing OpenCV capture release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2240"/>
          </a:solidFill>
          <a:ln w="31750">
            <a:solidFill>
              <a:srgbClr val="D4A0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4A017"/>
                </a:solidFill>
              </a:defRPr>
            </a:pPr>
            <a:r>
              <a:t>SIMATS ENGINEERING — NANO REVIEW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84048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Key Results &amp; Visual Heads-Up Display (HUD)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92240"/>
            <a:ext cx="9601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Saveetha Institute of Medical and Technical Sciences | MotionVision AI | B.Tech Capstone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9224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0A2240"/>
                </a:solidFill>
              </a:defRPr>
            </a:pPr>
            <a:r>
              <a:t>Slide 10 / 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25880"/>
            <a:ext cx="512064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463039"/>
            <a:ext cx="47548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A2240"/>
                </a:solidFill>
              </a:defRPr>
            </a:pPr>
            <a:r>
              <a:t>Visual HUD Architecture &amp; Features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182880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0A2240"/>
                </a:solidFill>
              </a:rPr>
              <a:t>• Mirrored Full-Screen Experience:</a:t>
            </a:r>
            <a:r>
              <a:rPr sz="1150">
                <a:solidFill>
                  <a:srgbClr val="0F172A"/>
                </a:solidFill>
              </a:rPr>
              <a:t> Native `cv2.flip(frame, 1)` provides an intuitive selfie view; toggles to full-screen mode with key 'f' and exits cleanly with 'q'/ESC.
</a:t>
            </a:r>
          </a:p>
          <a:p>
            <a:r>
              <a:rPr b="1" sz="1200">
                <a:solidFill>
                  <a:srgbClr val="0A2240"/>
                </a:solidFill>
              </a:rPr>
              <a:t>• Multi-Color Identity Trails:</a:t>
            </a:r>
            <a:r>
              <a:rPr sz="1150">
                <a:solidFill>
                  <a:srgbClr val="0F172A"/>
                </a:solidFill>
              </a:rPr>
              <a:t> Each track ID generates a deterministic color hash rendering a persistent trailing centroid polyline across the past 15 frames.
</a:t>
            </a:r>
          </a:p>
          <a:p>
            <a:r>
              <a:rPr b="1" sz="1200">
                <a:solidFill>
                  <a:srgbClr val="0A2240"/>
                </a:solidFill>
              </a:rPr>
              <a:t>• Integrated Kinematic Labels:</a:t>
            </a:r>
            <a:r>
              <a:rPr sz="1150">
                <a:solidFill>
                  <a:srgbClr val="0F172A"/>
                </a:solidFill>
              </a:rPr>
              <a:t> Bounding box labels display `Class Conf ID | Speed px/s Direction` (e.g., `person 0.88 ID:3 | 42 px/s NE`).
</a:t>
            </a:r>
          </a:p>
          <a:p>
            <a:r>
              <a:rPr b="1" sz="1200">
                <a:solidFill>
                  <a:srgbClr val="0A2240"/>
                </a:solidFill>
              </a:rPr>
              <a:t>• Dual-Hand Arithmetic Banner:</a:t>
            </a:r>
            <a:r>
              <a:rPr sz="1150">
                <a:solidFill>
                  <a:srgbClr val="0F172A"/>
                </a:solidFill>
              </a:rPr>
              <a:t> Top HUD banner displays: `[L: 3 | R: 2] Sum: 5 | Diff: 1 | Prod: 6 | Quot: 1.5`, updating continuously in real time.
</a:t>
            </a:r>
          </a:p>
          <a:p>
            <a:r>
              <a:rPr b="1" sz="1200">
                <a:solidFill>
                  <a:srgbClr val="0A2240"/>
                </a:solidFill>
              </a:rPr>
              <a:t>• Global Telemetry Status:</a:t>
            </a:r>
            <a:r>
              <a:rPr sz="1150">
                <a:solidFill>
                  <a:srgbClr val="0F172A"/>
                </a:solidFill>
              </a:rPr>
              <a:t> Bottom-left status badge displays real-time instantaneous `FPS: 38.4 | Objects: 4 | Hands: 2` with high-contrast text outlines.
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1325880"/>
            <a:ext cx="512064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463039"/>
            <a:ext cx="47548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84C78"/>
                </a:solidFill>
              </a:defRPr>
            </a:pPr>
            <a:r>
              <a:t>Qualitative Performance Comparison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182880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184C78"/>
                </a:solidFill>
              </a:rPr>
              <a:t>✔ Resolution of Misclassifications:</a:t>
            </a:r>
            <a:r>
              <a:rPr sz="1150">
                <a:solidFill>
                  <a:srgbClr val="0F172A"/>
                </a:solidFill>
              </a:rPr>
              <a:t> Testing on live video confirmed that YOLO11x completely eliminates spurious 'suitcase' classifications on phones, laptops, and hands seen in lightweight models.
</a:t>
            </a:r>
          </a:p>
          <a:p>
            <a:r>
              <a:rPr b="1" sz="1200">
                <a:solidFill>
                  <a:srgbClr val="184C78"/>
                </a:solidFill>
              </a:rPr>
              <a:t>✔ Extreme Occlusion Recovery:</a:t>
            </a:r>
            <a:r>
              <a:rPr sz="1150">
                <a:solidFill>
                  <a:srgbClr val="0F172A"/>
                </a:solidFill>
              </a:rPr>
              <a:t> ByteTrack successfully re-linked track IDs after subjects walked behind obstacles or crossed paths, achieving zero ID switches in Benchmark 3.
</a:t>
            </a:r>
          </a:p>
          <a:p>
            <a:r>
              <a:rPr b="1" sz="1200">
                <a:solidFill>
                  <a:srgbClr val="184C78"/>
                </a:solidFill>
              </a:rPr>
              <a:t>✔ Low-Latency Edge Execution:</a:t>
            </a:r>
            <a:r>
              <a:rPr sz="1150">
                <a:solidFill>
                  <a:srgbClr val="0F172A"/>
                </a:solidFill>
              </a:rPr>
              <a:t> Total end-to-end frame latency measured under 26 ms (Inference: 14 ms, Tracking: 4 ms, Motion &amp; Hands: 6 ms, Rendering: 2 ms), comfortably exceeding 30 FPS real-time standards.
</a:t>
            </a:r>
          </a:p>
          <a:p>
            <a:r>
              <a:rPr b="1" sz="1200">
                <a:solidFill>
                  <a:srgbClr val="184C78"/>
                </a:solidFill>
              </a:rPr>
              <a:t>✔ Zero Disk Overhead:</a:t>
            </a:r>
            <a:r>
              <a:rPr sz="1150">
                <a:solidFill>
                  <a:srgbClr val="0F172A"/>
                </a:solidFill>
              </a:rPr>
              <a:t> The application runs live entirely in memory without writing video files to disk unless `--output &lt;path&gt;` is explicitly requested.
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2240"/>
          </a:solidFill>
          <a:ln w="31750">
            <a:solidFill>
              <a:srgbClr val="D4A0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4A017"/>
                </a:solidFill>
              </a:defRPr>
            </a:pPr>
            <a:r>
              <a:t>SIMATS ENGINEERING — NANO REVIEW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84048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Conclusion, Work Distribution &amp; Future Scope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92240"/>
            <a:ext cx="9601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Saveetha Institute of Medical and Technical Sciences | MotionVision AI | B.Tech Capstone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9224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0A2240"/>
                </a:solidFill>
              </a:defRPr>
            </a:pPr>
            <a:r>
              <a:t>Slide 11 / 11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31520" y="1325880"/>
          <a:ext cx="10698480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1371600"/>
                <a:gridCol w="1371600"/>
                <a:gridCol w="5669280"/>
              </a:tblGrid>
              <a:tr h="70104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Team Member</a:t>
                      </a:r>
                    </a:p>
                  </a:txBody>
                  <a:tcPr>
                    <a:solidFill>
                      <a:srgbClr val="0A22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Register No</a:t>
                      </a:r>
                    </a:p>
                  </a:txBody>
                  <a:tcPr>
                    <a:solidFill>
                      <a:srgbClr val="0A22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% Share</a:t>
                      </a:r>
                    </a:p>
                  </a:txBody>
                  <a:tcPr>
                    <a:solidFill>
                      <a:srgbClr val="0A22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Module Assignment &amp; Key Engineering Contributions</a:t>
                      </a:r>
                    </a:p>
                  </a:txBody>
                  <a:tcPr>
                    <a:solidFill>
                      <a:srgbClr val="0A2240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0F172A"/>
                          </a:solidFill>
                        </a:defRPr>
                      </a:pPr>
                      <a:r>
                        <a:t>YOGESHWARAN 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0F172A"/>
                          </a:solidFill>
                        </a:defRPr>
                      </a:pPr>
                      <a:r>
                        <a:t>192412540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0F172A"/>
                          </a:solidFill>
                        </a:defRPr>
                      </a:pPr>
                      <a:r>
                        <a:t>50%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0F172A"/>
                          </a:solidFill>
                        </a:defRPr>
                      </a:pPr>
                      <a:r>
                        <a:t>MODULE 1 LEAD:</a:t>
                      </a:r>
                      <a:br/>
                      <a:r>
                        <a:t>• YOLO11x FP16 Tensor Core integration on RTX 4050 GPU</a:t>
                      </a:r>
                      <a:br/>
                      <a:r>
                        <a:t>• ByteTrack &amp; BoT-SORT ReID multi-object tracking pipeline</a:t>
                      </a:r>
                      <a:br/>
                      <a:r>
                        <a:t>• Windows DirectShow hardware video ingestion &amp; benchmarks 1 &amp; 2</a:t>
                      </a:r>
                      <a:br/>
                      <a:r>
                        <a:t>• Unit testing of tracking engine and model lifecycle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0F172A"/>
                          </a:solidFill>
                        </a:defRPr>
                      </a:pPr>
                      <a:r>
                        <a:t>HARINE M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0F172A"/>
                          </a:solidFill>
                        </a:defRPr>
                      </a:pPr>
                      <a:r>
                        <a:t>192412115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0F172A"/>
                          </a:solidFill>
                        </a:defRPr>
                      </a:pPr>
                      <a:r>
                        <a:t>50%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0F172A"/>
                          </a:solidFill>
                        </a:defRPr>
                      </a:pPr>
                      <a:r>
                        <a:t>MODULE 2 LEAD:</a:t>
                      </a:r>
                      <a:br/>
                      <a:r>
                        <a:t>• MotionAnalyzer kinematic trajectory engine with EMA smoothing</a:t>
                      </a:r>
                      <a:br/>
                      <a:r>
                        <a:t>• Instantaneous Euclidean velocity (px/s) &amp; 8-way compass sectoring</a:t>
                      </a:r>
                      <a:br/>
                      <a:r>
                        <a:t>• MediaPipe 21-keypoint dual-backend hand landmarker &amp; 4-op arithmetic</a:t>
                      </a:r>
                      <a:br/>
                      <a:r>
                        <a:t>• Live full-screen mirrored HUD display &amp; pytest suite verification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731520" y="3611880"/>
            <a:ext cx="3383280" cy="1645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74904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84C78"/>
                </a:solidFill>
              </a:defRPr>
            </a:pPr>
            <a:r>
              <a:t>Multi-Camera Spatial Handover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114800"/>
            <a:ext cx="30175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0F172A"/>
                </a:solidFill>
              </a:defRPr>
            </a:pPr>
            <a:r>
              <a:t>Extending ReID embeddings across non-overlapping camera networks for facility-wide multi-camera tracking.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3611880"/>
            <a:ext cx="3383280" cy="1645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374904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84C78"/>
                </a:solidFill>
              </a:defRPr>
            </a:pPr>
            <a:r>
              <a:t>TensorRT INT8 Deployment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4114800"/>
            <a:ext cx="30175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0F172A"/>
                </a:solidFill>
              </a:defRPr>
            </a:pPr>
            <a:r>
              <a:t>Quantizing YOLO11x and MediaPipe models for ultra-low-power embedded edge accelerators (e.g., Jetson Orin).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3611880"/>
            <a:ext cx="3383280" cy="1645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0" y="374904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84C78"/>
                </a:solidFill>
              </a:defRPr>
            </a:pPr>
            <a:r>
              <a:t>Trajectory Forecasting (LSTM)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4114800"/>
            <a:ext cx="30175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0F172A"/>
                </a:solidFill>
              </a:defRPr>
            </a:pPr>
            <a:r>
              <a:t>Integrating spatial-temporal graph neural networks to forecast future trajectory vectors 3-5 seconds ahead.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5394960"/>
            <a:ext cx="10698480" cy="868680"/>
          </a:xfrm>
          <a:prstGeom prst="roundRect">
            <a:avLst/>
          </a:prstGeom>
          <a:solidFill>
            <a:srgbClr val="0A2240"/>
          </a:solidFill>
          <a:ln w="19050">
            <a:solidFill>
              <a:srgbClr val="D4A0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5440680"/>
            <a:ext cx="1033272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FFFFF"/>
                </a:solidFill>
              </a:defRPr>
            </a:pPr>
            <a:r>
              <a:t>CAPSTONE OUTCOME SUMMARY: MotionVision AI successfully achieves 100% test verification (22/22 pytest), robust real-time performance (&gt;30 FPS on RTX 4050 GPU), zero misclassifications, and seamless dual-hand gesture interaction, fulfilling all SIMATS Engineering Capstone Review requirements.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